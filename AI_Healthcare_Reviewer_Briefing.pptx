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E3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2E30"/>
                </a:solidFill>
                <a:latin typeface="Calibri"/>
              </a:rPr>
              <a:t>Diagnostic Accuracy by Disease Category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Systems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Skin Cancer</c:v>
                </c:pt>
                <c:pt idx="1">
                  <c:v>Diabetic Retin.</c:v>
                </c:pt>
                <c:pt idx="2">
                  <c:v>Lung Nodules</c:v>
                </c:pt>
                <c:pt idx="3">
                  <c:v>Pneumonia</c:v>
                </c:pt>
                <c:pt idx="4">
                  <c:v>Breast Cancer</c:v>
                </c:pt>
                <c:pt idx="5">
                  <c:v>Brain Tumor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87</c:v>
                </c:pt>
                <c:pt idx="2">
                  <c:v>89</c:v>
                </c:pt>
                <c:pt idx="3">
                  <c:v>85</c:v>
                </c:pt>
                <c:pt idx="4">
                  <c:v>88</c:v>
                </c:pt>
                <c:pt idx="5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5F-4608-93D1-9A46E68065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Clinicians</c:v>
                </c:pt>
              </c:strCache>
            </c:strRef>
          </c:tx>
          <c:spPr>
            <a:solidFill>
              <a:srgbClr val="C7D6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Skin Cancer</c:v>
                </c:pt>
                <c:pt idx="1">
                  <c:v>Diabetic Retin.</c:v>
                </c:pt>
                <c:pt idx="2">
                  <c:v>Lung Nodules</c:v>
                </c:pt>
                <c:pt idx="3">
                  <c:v>Pneumonia</c:v>
                </c:pt>
                <c:pt idx="4">
                  <c:v>Breast Cancer</c:v>
                </c:pt>
                <c:pt idx="5">
                  <c:v>Brain Tumor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</c:v>
                </c:pt>
                <c:pt idx="1">
                  <c:v>89</c:v>
                </c:pt>
                <c:pt idx="2">
                  <c:v>86</c:v>
                </c:pt>
                <c:pt idx="3">
                  <c:v>84</c:v>
                </c:pt>
                <c:pt idx="4">
                  <c:v>87</c:v>
                </c:pt>
                <c:pt idx="5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5F-4608-93D1-9A46E68065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1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2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E3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2E30"/>
                </a:solidFill>
                <a:latin typeface="Calibri"/>
              </a:rPr>
              <a:t>Prediction Performance vs. Baseline (AUC / Sensitivity)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Models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Cardiovascular</c:v>
                </c:pt>
                <c:pt idx="1">
                  <c:v>Sepsis</c:v>
                </c:pt>
                <c:pt idx="2">
                  <c:v>AKI</c:v>
                </c:pt>
                <c:pt idx="3">
                  <c:v>Mortality</c:v>
                </c:pt>
                <c:pt idx="4">
                  <c:v>Readmission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</c:v>
                </c:pt>
                <c:pt idx="1">
                  <c:v>0.88</c:v>
                </c:pt>
                <c:pt idx="2">
                  <c:v>0.89</c:v>
                </c:pt>
                <c:pt idx="3">
                  <c:v>0.85</c:v>
                </c:pt>
                <c:pt idx="4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A5-4C14-A5DC-C58C5568AC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Methods</c:v>
                </c:pt>
              </c:strCache>
            </c:strRef>
          </c:tx>
          <c:spPr>
            <a:solidFill>
              <a:srgbClr val="C7D6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Cardiovascular</c:v>
                </c:pt>
                <c:pt idx="1">
                  <c:v>Sepsis</c:v>
                </c:pt>
                <c:pt idx="2">
                  <c:v>AKI</c:v>
                </c:pt>
                <c:pt idx="3">
                  <c:v>Mortality</c:v>
                </c:pt>
                <c:pt idx="4">
                  <c:v>Readmission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0.72</c:v>
                </c:pt>
                <c:pt idx="1">
                  <c:v>0.65</c:v>
                </c:pt>
                <c:pt idx="2">
                  <c:v>0.82</c:v>
                </c:pt>
                <c:pt idx="3">
                  <c:v>0.75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A5-4C14-A5DC-C58C5568AC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1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2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E30"/>
                </a:solidFill>
                <a:latin typeface="Calibri"/>
              </a:defRPr>
            </a:pPr>
            <a:r>
              <a:rPr lang="en-IN" sz="1250" b="0" i="0" u="none" strike="noStrike">
                <a:solidFill>
                  <a:srgbClr val="1B2E30"/>
                </a:solidFill>
                <a:latin typeface="Calibri"/>
              </a:rPr>
              <a:t>Research Focus by Domain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Studies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Imaging</c:v>
                </c:pt>
                <c:pt idx="1">
                  <c:v>Predictive</c:v>
                </c:pt>
                <c:pt idx="2">
                  <c:v>Drug Disc.</c:v>
                </c:pt>
                <c:pt idx="3">
                  <c:v>Robotic</c:v>
                </c:pt>
                <c:pt idx="4">
                  <c:v>Personal.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23</c:v>
                </c:pt>
                <c:pt idx="2">
                  <c:v>12</c:v>
                </c:pt>
                <c:pt idx="3">
                  <c:v>8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CB-4DD8-9CC9-811B037054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E30"/>
                </a:solidFill>
                <a:latin typeface="Calibri"/>
              </a:defRPr>
            </a:pPr>
            <a:r>
              <a:rPr lang="en-IN" sz="1250" b="0" i="0" u="none" strike="noStrike">
                <a:solidFill>
                  <a:srgbClr val="1B2E30"/>
                </a:solidFill>
                <a:latin typeface="Calibri"/>
              </a:rPr>
              <a:t>Diagnostic Accuracy Over Time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Systems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  <c:pt idx="3">
                  <c:v>2021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86</c:v>
                </c:pt>
                <c:pt idx="3">
                  <c:v>89</c:v>
                </c:pt>
                <c:pt idx="4">
                  <c:v>91</c:v>
                </c:pt>
                <c:pt idx="5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F7-40BD-8382-19ECDD2FA8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Clinicians</c:v>
                </c:pt>
              </c:strCache>
            </c:strRef>
          </c:tx>
          <c:spPr>
            <a:ln w="31750" cap="flat">
              <a:solidFill>
                <a:srgbClr val="9FB3B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FB3B3"/>
              </a:solidFill>
              <a:ln w="9525" cap="flat">
                <a:solidFill>
                  <a:srgbClr val="9FB3B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  <c:pt idx="3">
                  <c:v>2021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83</c:v>
                </c:pt>
                <c:pt idx="1">
                  <c:v>84</c:v>
                </c:pt>
                <c:pt idx="2">
                  <c:v>85</c:v>
                </c:pt>
                <c:pt idx="3">
                  <c:v>85</c:v>
                </c:pt>
                <c:pt idx="4">
                  <c:v>86</c:v>
                </c:pt>
                <c:pt idx="5">
                  <c:v>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F7-40BD-8382-19ECDD2FA8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1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72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E30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B2E30"/>
                </a:solidFill>
                <a:latin typeface="Calibri"/>
              </a:rPr>
              <a:t>Barriers to AI Adoption — Survey of 120 Hospital Administrators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Citing Barrier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Regulatory Uncertainty</c:v>
                </c:pt>
                <c:pt idx="1">
                  <c:v>Clinical Trust</c:v>
                </c:pt>
                <c:pt idx="2">
                  <c:v>Workflow Fit</c:v>
                </c:pt>
                <c:pt idx="3">
                  <c:v>Privacy / Security</c:v>
                </c:pt>
                <c:pt idx="4">
                  <c:v>Cost</c:v>
                </c:pt>
                <c:pt idx="5">
                  <c:v>Data Integration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42</c:v>
                </c:pt>
                <c:pt idx="2">
                  <c:v>44</c:v>
                </c:pt>
                <c:pt idx="3">
                  <c:v>45</c:v>
                </c:pt>
                <c:pt idx="4">
                  <c:v>49</c:v>
                </c:pt>
                <c:pt idx="5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C-4438-9135-77D03CFA2A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92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881360" y="3108960"/>
            <a:ext cx="2743200" cy="27432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 REVIEW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in Healthcare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Analysis of Clinical Applications, Implementation Challenges, and Future Trajectories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Vaishali Chauhan   •   Gesu Thakur   •   Anupama Mishra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159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 University, Roorkee  |  Swami Rama Himalayan University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Reviewed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2015–2024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93192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Window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AI Accuracy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Errors Persist Despite Record Health Spending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healthcare spending hit an all-time high in 2022, yet outcomes continue to lag other developed nations. The volume and complexity of modern clinical data has outpaced what human analysis alone can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11810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9900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non-standardized data across institutions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6210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34930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errors linked to 40,000–80,000 deaths/year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1239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9959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still concentrated in narrow, well-defined tasks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55448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E3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26680" y="1682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26680" y="2313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healthcare spend, 2022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3035808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E3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26680" y="31638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2668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GDP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4517136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E3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26680" y="4645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PB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726680" y="5276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generated per hospital / year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Objectives Anchor This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E3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Systematically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364992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AI applications across clinical and operational healthcare domains.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E3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90872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9087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Critically Examine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3364992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technical, regulatory, and ethical barriers limiting real-world adoption.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E3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604504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0450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58784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58784" y="3364992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guidance for researchers, clinicians, and policymakers.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PRISMA-Guided Systematic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PubMed, IEEE Xplore, Scopus, Google Scholar  |  Window: Jan 2015 – Oct 2024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36601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23660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2852928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Identified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2321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43250" y="2011680"/>
            <a:ext cx="2366010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43250" y="2212848"/>
            <a:ext cx="23660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52978" y="2852928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Duplicates Removed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0926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29300" y="2011680"/>
            <a:ext cx="2366010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29300" y="2212848"/>
            <a:ext cx="23660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39028" y="2852928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Assessed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9531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15350" y="2011680"/>
            <a:ext cx="2366010" cy="1417320"/>
          </a:xfrm>
          <a:prstGeom prst="roundRect">
            <a:avLst>
              <a:gd name="adj" fmla="val 645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15350" y="2212848"/>
            <a:ext cx="23660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25078" y="2852928"/>
            <a:ext cx="2146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Included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studies excluded at full-text review for lacking empirical evaluation or falling outside scope.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8006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research/systematic reviews with quantitative metrics (accuracy, sensitivity, specificity, AUC), validated on independent or real-world data.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43434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350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8006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pieces, editorials, studies without empirical evaluation, and papers focused exclusively on non-medical AI.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Matches or Exceeds Clinicians on Imaging Tasks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74980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Esteva et al. — 91% skin cancer accuracy vs. 88% dermatologists (129,450 images)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Abramoff et al. — IDx-DR: 87% sensitivity, 90% specificity → FDA approval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0" y="42519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45820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58200" y="46817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gains reflect controlled study conditions — calibration degrades and false-positive rates rise under real-world population shift.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Models Outperform Baselines Across Tasks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11247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prediction flags onset 12–48 hours early at 85–90% sensitivity; AKI models reach 0.85–0.91 AUC up to 48 hours ahead of creatinine elevation.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Dominates Research; Accuracy Keeps Climbing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6304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46304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Integration, Not Algorithms, Blocks Adoption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71323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463040"/>
            <a:ext cx="3840480" cy="4572000"/>
          </a:xfrm>
          <a:prstGeom prst="roundRect">
            <a:avLst>
              <a:gd name="adj" fmla="val 2381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13816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&lt;15%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38160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hospitals have deployed AI beyond basic administrative automation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38160" y="3703320"/>
            <a:ext cx="3291840" cy="0"/>
          </a:xfrm>
          <a:prstGeom prst="line">
            <a:avLst/>
          </a:prstGeom>
          <a:noFill/>
          <a:ln w="12700">
            <a:solidFill>
              <a:srgbClr val="2E4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13816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reviewers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42062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core claim — that adoption lags proven performance — is the load-bearing argument for our recommendations section.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Enters Through Five Distinct Channels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Obermeyer et al. exposed racial bias in a widely used commercial algorithm that underestimated Black patients' health needs — traced to using past healthcare cost as a proxy for illness severity.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E3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09728" cy="713232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33172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Underrepresentation of minority groups, rare conditions, or specific populations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E3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09728" cy="713232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errors in ground truth labels from human bias or measurement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E3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09728" cy="713232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bias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97764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data collection methods, equipment, or protocols across groups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E3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109728" cy="713232"/>
          </a:xfrm>
          <a:prstGeom prst="roundRect">
            <a:avLst/>
          </a:prstGeom>
          <a:solidFill>
            <a:srgbClr val="5B8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48006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that amplifies existing disparities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E3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09728" cy="713232"/>
          </a:xfrm>
          <a:prstGeom prst="round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562356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between training population and target population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Guidance for Three Audiences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E3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11880" cy="1828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37744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diverse, multi-site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30358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0120" y="28986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performance by demographic subgroup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69417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3557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inherently interpretable models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435254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0120" y="421538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code and trained models openly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155448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E3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70832" y="155448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70832" y="1965960"/>
            <a:ext cx="36118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70832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Systems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26864" y="23774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73752" y="2240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performance monitoring post-deployment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26864" y="303580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73752" y="28986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literacy training for staff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26864" y="369417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73752" y="3557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protocols for AI-assisted decisions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84464" y="155448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E3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84464" y="155448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84464" y="1965960"/>
            <a:ext cx="361188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84464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40496" y="23774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87384" y="2240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pathways for continuously learning AI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40496" y="303580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87384" y="28986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fairness audits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40496" y="369417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87384" y="3557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frameworks balancing innovation &amp; safety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 MERITS PUBLICATION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Grounded, Evidence-Based Synthesis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 studies synthesized under PRISMA, spanning imaging, predictive analytics, drug discovery, and personalized medicine.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measured technical gains (78%→93% accuracy) with honest adoption gaps (&lt;15% deployment), avoiding hype.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with concrete, audience-specific recommendations rather than generic calls for 'more research.'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4652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rigor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7091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bias taxonomy and a documented real-world failure case (Obermeyer et al.) ground the fairness discussion.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0A896">
              <a:alpha val="3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Reviewer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00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accuracy comparison apples-to-apples?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9842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note explicitly that reported gains reflect controlled study conditions; real-world calibration degrades 5–15% across sites.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7157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include drug discovery and robotic surgery?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0998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reflect the full clinical AI landscape per our search strategy, not just imaging — preventing survivorship bias toward 'easy' wins.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38313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bias in source studies handled?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2153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extraction captured validation methodology and reported barriers for every one of the 556 studies.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49469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genuinely new versus prior reviews?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53309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adoption-barrier survey data (n=120 administrators) and the audience-segmented recommendations tie evidence directly to action.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— Reviewer Pre-Submission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963</Words>
  <Application>Microsoft Office PowerPoint</Application>
  <PresentationFormat>Widescreen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Vaishali</dc:creator>
  <cp:lastModifiedBy>intern</cp:lastModifiedBy>
  <cp:revision>1</cp:revision>
  <dcterms:created xsi:type="dcterms:W3CDTF">2026-07-14T10:26:25Z</dcterms:created>
  <dcterms:modified xsi:type="dcterms:W3CDTF">2026-07-14T10:29:32Z</dcterms:modified>
</cp:coreProperties>
</file>